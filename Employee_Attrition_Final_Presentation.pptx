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47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</a:rPr>
              <a:t>Accuracy vs. Attrition Recall by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Reg.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XGBoost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77.900000000000006</c:v>
                </c:pt>
                <c:pt idx="1">
                  <c:v>79.599999999999994</c:v>
                </c:pt>
                <c:pt idx="2">
                  <c:v>84.7</c:v>
                </c:pt>
                <c:pt idx="3">
                  <c:v>85.4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CA-4465-83E5-219496B7DC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Attrition Recall x100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Reg.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XGBoost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77</c:v>
                </c:pt>
                <c:pt idx="1">
                  <c:v>36</c:v>
                </c:pt>
                <c:pt idx="2">
                  <c:v>26</c:v>
                </c:pt>
                <c:pt idx="3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9CA-4465-83E5-219496B7DC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B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6495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075885" cy="68580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lef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457200"/>
            <a:ext cx="1612669" cy="822960"/>
          </a:xfrm>
          <a:prstGeom prst="rect">
            <a:avLst/>
          </a:prstGeom>
        </p:spPr>
      </p:pic>
      <p:pic>
        <p:nvPicPr>
          <p:cNvPr id="4" name="Image 1" descr="right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502920"/>
            <a:ext cx="1417320" cy="7772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2286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IBM Data Science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731520" y="28803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Attrition Prediction &amp; Analysis Project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BB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— Model, Deployment &amp; Business Impact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31520" y="4663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Instructor: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Ahmed Mostafa    |    Date: 11/7/2026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• Rezk Youssef    • Moaz Abdelfattah   •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Felopateer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Michael   •Nourhan Noureldin   •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Fareda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Hossam   • Sally</a:t>
            </a:r>
            <a:r>
              <a:rPr lang="ar-EG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Marqos</a:t>
            </a:r>
            <a:endParaRPr lang="en-US" sz="14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17830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28800" y="17830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Objectives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46520" y="17830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406640" y="17830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Exploratory Analysis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828800" y="33375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 &amp; Feature Selection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10896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46520" y="33375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406640" y="33375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 &amp; Optimization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66344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48920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1828800" y="48920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Architecture &amp; Live Demo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7920" y="466344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46520" y="48920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406640" y="48920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 Next Steps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&amp; Analysis — DEPI IBM Data Science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carries direct and hidden costs — recruitment, onboarding, lost productivity, and knowledge drain. Identifying at-risk employees early lets HR intervene before it's too late.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48640" y="2697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5486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strongest drivers of attrition using statistics and feature importance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multiple ML models for the best accuracy / recall trade-off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model as a live, usable tool — not just a notebook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monitoring so prediction quality can be tracked over time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1417320"/>
            <a:ext cx="5212080" cy="4617720"/>
          </a:xfrm>
          <a:prstGeom prst="roundRect">
            <a:avLst>
              <a:gd name="adj" fmla="val 1584"/>
            </a:avLst>
          </a:prstGeom>
          <a:solidFill>
            <a:srgbClr val="21295C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76656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76656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16.1%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766560" y="28529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in our data left the company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766560" y="3520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 EGP 1,000s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766560" y="40873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income gap between leavers and stayers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766560" y="4754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signal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766560" y="532180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is the #1 recurring driver across every test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&amp; Analysis — DEPI IBM Data Science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Analytics Employee Attrition &amp; Performance dataset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10712" y="173736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47872" y="196596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47872" y="283464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(numeric + categorical)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2784" y="173736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9944" y="196596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09944" y="283464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or duplicates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34856" y="1737360"/>
            <a:ext cx="26974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272016" y="196596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83.9% / 16.1%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272016" y="283464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Stayed vs. Left (imbalanced)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EAF3F7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434340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data had no missing values or duplicates, preprocessing focused on encoding categorical variables, engineering new features (SalaryExperienceRatio, TenureGroup), and correcting class imbalance with SMOTE — rather than data cleaning.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&amp; Analysis — DEPI IBM Data Science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EDA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5778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employees are 30–40 years old; Monthly Income is right-skewed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who work overtime leave at a much higher rate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varies meaningfully by department and job role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employees rate work-life balance as 3 (“Better”) on a 1–4 scale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concentrated in Monthly Income &amp; Total Working Years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0" y="146304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21295C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76656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Highlights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766560" y="21945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YearsAtCompany, YearsInCurrentRole &amp; YearsWithCurrManager are strongly correlated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MonthlyIncome correlates with JobLevel and TotalWorkingYears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and role stability move together — employees who stay longer keep the same role and manager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&amp; Analysis — DEPI IBM Data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Validation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tests confirm which features truly drive attrition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32918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Comparison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Conclusion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Income: Left vs Stayed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t=-7.48, p&lt;0.001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Leavers earn significantly less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Role vs Attrition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χ²=86.19, p&lt;0.001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Attrition differs by job role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OverTime vs Attrition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χ²=87.56, p&lt;0.001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Overtime strongly linked to leaving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ANOVA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across Job Roles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F=810.21, p&lt;0.001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differs sharply by role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ANOVA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across Work-Life Balance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F=0.61, p=0.607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206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AF3F7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525780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Salary, overtime, and job role are statistically validated drivers of attrition — directly shaping our feature selection and HR recommendations.</a:t>
            </a:r>
            <a:endParaRPr lang="en-US" sz="1400" dirty="0"/>
          </a:p>
        </p:txBody>
      </p:sp>
      <p:sp>
        <p:nvSpPr>
          <p:cNvPr id="4" name="Text 4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&amp; Analysis — DEPI IBM Data Science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&amp; Selection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SalaryExperienceRatio — balances pay against work experience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TenureGroup — bins YearsAtCompany into New / Junior / Mid / Senior career stages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Techniques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5394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 (Logistic Regression): 10 features selected, incl. SalaryExperienceRatio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importance: MonthlyIncome, Age, OverTime lead the ranking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set = union of both techniques → Employee_Attrition_Selected_Features.csv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46304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21295C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6656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Top-Ranked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66560" y="2286000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66560" y="22860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MonthlyIncome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66560" y="2907792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0" y="290779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3529584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2E6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0" y="352958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SalaryExperienceRatio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66560" y="4151376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2E6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66560" y="415137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66560" y="4773168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2E6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0" y="477316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TotalWorkingYears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&amp; Analysis — DEPI IBM Data Science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Development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classifiers, SMOTE-balanced training data, 5-fold stratified CV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554480"/>
            <a:ext cx="3840480" cy="4480560"/>
          </a:xfrm>
          <a:prstGeom prst="roundRect">
            <a:avLst>
              <a:gd name="adj" fmla="val 1905"/>
            </a:avLst>
          </a:prstGeom>
          <a:solidFill>
            <a:srgbClr val="21295C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092440" y="17830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Accuracy Isn't Enough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92440" y="2423160"/>
            <a:ext cx="3291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&amp; XGBoost score highest on accuracy...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...but Logistic Regression catches far more real leavers (77% recall)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attrition, missing a true leaver is costlier than a false alarm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&amp; Analysis — DEPI IBM Data Science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Optimizing the Final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Tuning (XGBoost)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5394960" cy="1920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Best Value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learning_rate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CV 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886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combinations × 5-fold CV = 135 fits tested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43891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Threshold Tuning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475488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0.5 cutoff under-catches leavers. Testing 0.20–0.50 found the best F1 (0.50) at a threshold of 0.25 — adopted for production.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0" y="146304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21295C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76656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Tuned Model — Test Set</a:t>
            </a:r>
            <a:endParaRPr lang="en-US" sz="1600" dirty="0"/>
          </a:p>
        </p:txBody>
      </p:sp>
      <p:sp>
        <p:nvSpPr>
          <p:cNvPr id="4" name="Text 7"/>
          <p:cNvSpPr/>
          <p:nvPr/>
        </p:nvSpPr>
        <p:spPr>
          <a:xfrm>
            <a:off x="676656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82.99%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766560" y="2834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766560" y="3520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766560" y="4069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766560" y="4754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0.45 / 0.30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766560" y="5303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 (Attrition = Yes)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&amp; Analysis — DEPI IBM Data Science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237744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30175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scaler +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artifacts (.pkl)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297680" y="237744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434840" y="2560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34840" y="30175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 endpoint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Railway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55280" y="237744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92440" y="2560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92440" y="30175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HR-facing UI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Community Cloud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86200" y="2944368"/>
            <a:ext cx="384048" cy="411480"/>
          </a:xfrm>
          <a:prstGeom prst="rightArrow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543800" y="2944368"/>
            <a:ext cx="384048" cy="411480"/>
          </a:xfrm>
          <a:prstGeom prst="rightArrow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10515600" cy="1737360"/>
          </a:xfrm>
          <a:prstGeom prst="roundRect">
            <a:avLst>
              <a:gd name="adj" fmla="val 4211"/>
            </a:avLst>
          </a:prstGeom>
          <a:solidFill>
            <a:srgbClr val="EAF3F7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5840" y="448056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resolved earlier module-path &amp; scikit-learn version-pinning issues from initial setup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initial Vercel deployment was abandoned due to serverless package size limits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is logged (input, prediction, probability, timestamp) for monitoring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&amp; Analysis — DEPI IBM Data Science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BB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Attrition Risk Dashboard — Streamlit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889504" y="2377440"/>
            <a:ext cx="640080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889504" y="26517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🔗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200400" y="342900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[https://employee-attrition-prediction-and-analysis-project.streamlit.app/]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4023360"/>
            <a:ext cx="5760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an employee's Age, Monthly Income, OverTime status, Total Working Years, and Job Satisfaction to get an instant attrition risk score.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&amp; Analysis — DEPI IBM Data Science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 &amp; HR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overtime policy — the strongest, most consistent driver of attrition</a:t>
            </a:r>
            <a:endParaRPr lang="en-US" sz="16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pay gaps in high-turnover roles — leavers earn significantly less on average</a:t>
            </a:r>
            <a:endParaRPr lang="en-US" sz="16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tenure milestones — role &amp; manager stability compound over time</a:t>
            </a:r>
            <a:endParaRPr lang="en-US" sz="16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dashboard proactively — score teams before resignations happen, not after</a:t>
            </a:r>
            <a:endParaRPr lang="en-US" sz="16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over raw accuracy — threshold tuned to catch more true leavers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&amp; Analysis — DEPI IBM Data Science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Features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engagement &amp; satisfaction survey scores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0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Algorithms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0" y="28803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neural networks, LightGBM, CatBoost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64592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66760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667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66760" y="2423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Retraining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366760" y="28803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monitoring logs to trigger drift-based refreshes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" y="4251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800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Deployment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77240" y="52578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with Docker; expand dashboard inputs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43400" y="40233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2E6"/>
            </a:solidFill>
            <a:prstDash val="solid"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0" y="4251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0" y="4800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72000" y="52578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SHAP values so HR sees *why* an employee is flagged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&amp; Analysis — DEPI IBM Data Science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ef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1097280" cy="896112"/>
          </a:xfrm>
          <a:prstGeom prst="rect">
            <a:avLst/>
          </a:prstGeom>
        </p:spPr>
      </p:pic>
      <p:pic>
        <p:nvPicPr>
          <p:cNvPr id="3" name="Image 1" descr="right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0" y="502920"/>
            <a:ext cx="1280160" cy="7040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BB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4718304" y="4206240"/>
            <a:ext cx="274320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&amp; Analysis — DEPI IBM Data Science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1099</Words>
  <Application>Microsoft Office PowerPoint</Application>
  <PresentationFormat>Widescreen</PresentationFormat>
  <Paragraphs>204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Nourhan Nour</cp:lastModifiedBy>
  <cp:revision>2</cp:revision>
  <dcterms:created xsi:type="dcterms:W3CDTF">2026-07-09T19:20:52Z</dcterms:created>
  <dcterms:modified xsi:type="dcterms:W3CDTF">2026-07-09T20:09:45Z</dcterms:modified>
</cp:coreProperties>
</file>