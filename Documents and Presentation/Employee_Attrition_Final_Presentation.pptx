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22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</a:rPr>
              <a:t>Accuracy vs. Attrition Recall by Model</a:t>
            </a:r>
            <a:endParaRPr lang="en-US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prstGeom prst="rect">
              <a:avLst/>
            </a:prstGeom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77.900000000000006</c:v>
                </c:pt>
                <c:pt idx="1">
                  <c:v>79.599999999999994</c:v>
                </c:pt>
                <c:pt idx="2">
                  <c:v>84.7</c:v>
                </c:pt>
                <c:pt idx="3">
                  <c:v>85.4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A1-44ED-AA01-2C560F6B94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Attrition Recall x100</c:v>
                </c:pt>
              </c:strCache>
            </c:strRef>
          </c:tx>
          <c:spPr>
            <a:prstGeom prst="rect">
              <a:avLst/>
            </a:prstGeom>
            <a:solidFill>
              <a:srgbClr val="E8A3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77</c:v>
                </c:pt>
                <c:pt idx="1">
                  <c:v>36</c:v>
                </c:pt>
                <c:pt idx="2">
                  <c:v>26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A1-44ED-AA01-2C560F6B94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prstGeom prst="rect">
              <a:avLst/>
            </a:prstGeom>
            <a:ln w="12700" cap="flat">
              <a:solidFill>
                <a:srgbClr val="E5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prstGeom prst="rect">
          <a:avLst/>
        </a:prstGeom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xfrm>
      <a:off x="548640" y="1554480"/>
      <a:ext cx="6949440" cy="4480560"/>
    </a:xfrm>
    <a:prstGeom prst="rect">
      <a:avLst/>
    </a:prstGeom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13053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46388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61413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27617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99317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4223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46532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76181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7060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02253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84547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083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32612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91461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4438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3096CB-72C9-93D1-4115-0CA040028AF7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64775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55870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9921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42224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621126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2525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96083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305038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1389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28331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03763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24750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03AA73-2652-598B-AF14-2DFEEF561AEB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9229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92127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7234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39980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99236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8038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57096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05706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3488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07D86F-DF87-CD23-D780-2890AE5045DE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86788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23734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01925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914A2A-247A-E883-E03F-832C05D19D4D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16934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144246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8920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42955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250940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6306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75530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942883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48781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58845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58197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907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1302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514427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9107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484892" name="Shape 0"/>
          <p:cNvSpPr/>
          <p:nvPr/>
        </p:nvSpPr>
        <p:spPr bwMode="auto">
          <a:xfrm>
            <a:off x="0" y="0"/>
            <a:ext cx="12075885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804384919" name="Image 0" descr="left_log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39" y="457200"/>
            <a:ext cx="1612669" cy="822960"/>
          </a:xfrm>
          <a:prstGeom prst="rect">
            <a:avLst/>
          </a:prstGeom>
        </p:spPr>
      </p:pic>
      <p:pic>
        <p:nvPicPr>
          <p:cNvPr id="1375699847" name="Image 1" descr="right_logo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241280" y="502920"/>
            <a:ext cx="1417320" cy="777240"/>
          </a:xfrm>
          <a:prstGeom prst="rect">
            <a:avLst/>
          </a:prstGeom>
        </p:spPr>
      </p:pic>
      <p:sp>
        <p:nvSpPr>
          <p:cNvPr id="1200997726" name="Text 1"/>
          <p:cNvSpPr/>
          <p:nvPr/>
        </p:nvSpPr>
        <p:spPr bwMode="auto">
          <a:xfrm>
            <a:off x="731520" y="2286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400" b="1">
                <a:solidFill>
                  <a:srgbClr val="EAF3F7"/>
                </a:solidFill>
                <a:latin typeface="Calibri"/>
                <a:ea typeface="Calibri"/>
                <a:cs typeface="Calibri"/>
              </a:rPr>
              <a:t>DEPI IBM Data Science</a:t>
            </a:r>
            <a:endParaRPr lang="en-US" sz="2400"/>
          </a:p>
        </p:txBody>
      </p:sp>
      <p:sp>
        <p:nvSpPr>
          <p:cNvPr id="2036530914" name="Text 2"/>
          <p:cNvSpPr/>
          <p:nvPr/>
        </p:nvSpPr>
        <p:spPr bwMode="auto">
          <a:xfrm>
            <a:off x="731520" y="28803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Employee Attrition Prediction &amp; Analysis Project</a:t>
            </a:r>
            <a:endParaRPr lang="en-US" sz="3800"/>
          </a:p>
        </p:txBody>
      </p:sp>
      <p:sp>
        <p:nvSpPr>
          <p:cNvPr id="935097421" name="Text 4"/>
          <p:cNvSpPr/>
          <p:nvPr/>
        </p:nvSpPr>
        <p:spPr bwMode="auto"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i="1">
                <a:solidFill>
                  <a:srgbClr val="BBD6E8"/>
                </a:solidFill>
                <a:latin typeface="Calibri"/>
                <a:ea typeface="Calibri"/>
                <a:cs typeface="Calibri"/>
              </a:rPr>
              <a:t>Final Presentation — Model, Deployment &amp; Business Impact</a:t>
            </a:r>
            <a:endParaRPr lang="en-US" sz="1600"/>
          </a:p>
        </p:txBody>
      </p:sp>
      <p:sp>
        <p:nvSpPr>
          <p:cNvPr id="154666188" name="Text 5"/>
          <p:cNvSpPr/>
          <p:nvPr/>
        </p:nvSpPr>
        <p:spPr bwMode="auto">
          <a:xfrm>
            <a:off x="731520" y="4663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Course Instructor: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Dr. Ahmed Mostafa    |    Date: 11/7/2026</a:t>
            </a:r>
            <a:endParaRPr lang="en-US" sz="1400"/>
          </a:p>
        </p:txBody>
      </p:sp>
      <p:sp>
        <p:nvSpPr>
          <p:cNvPr id="434593670" name="Text 6"/>
          <p:cNvSpPr/>
          <p:nvPr/>
        </p:nvSpPr>
        <p:spPr bwMode="auto"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14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Team: • Rezk Youssef    • Moaz Abdelfattah   • Felopateer Michael   •Nourhan Noureldin   • Fareda Hossam   • Sally</a:t>
            </a:r>
            <a:r>
              <a:rPr lang="ar-EG" sz="14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 Marqos</a:t>
            </a:r>
            <a:endParaRPr lang="en-US" sz="1400">
              <a:solidFill>
                <a:schemeClr val="bg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381419" name="Text 0"/>
          <p:cNvSpPr/>
          <p:nvPr/>
        </p:nvSpPr>
        <p:spPr bwMode="auto"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Agenda</a:t>
            </a:r>
            <a:endParaRPr lang="en-US" sz="3000"/>
          </a:p>
        </p:txBody>
      </p:sp>
      <p:sp>
        <p:nvSpPr>
          <p:cNvPr id="1549881620" name="Shape 1"/>
          <p:cNvSpPr/>
          <p:nvPr/>
        </p:nvSpPr>
        <p:spPr bwMode="auto">
          <a:xfrm>
            <a:off x="640080" y="15544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1385192" name="Text 2"/>
          <p:cNvSpPr/>
          <p:nvPr/>
        </p:nvSpPr>
        <p:spPr bwMode="auto">
          <a:xfrm>
            <a:off x="868680" y="17830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01</a:t>
            </a:r>
            <a:endParaRPr lang="en-US" sz="3400"/>
          </a:p>
        </p:txBody>
      </p:sp>
      <p:sp>
        <p:nvSpPr>
          <p:cNvPr id="1456727922" name="Text 3"/>
          <p:cNvSpPr/>
          <p:nvPr/>
        </p:nvSpPr>
        <p:spPr bwMode="auto">
          <a:xfrm>
            <a:off x="1828800" y="1783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Business Problem &amp; Objectives</a:t>
            </a:r>
            <a:endParaRPr lang="en-US" sz="1600"/>
          </a:p>
        </p:txBody>
      </p:sp>
      <p:sp>
        <p:nvSpPr>
          <p:cNvPr id="1154181876" name="Shape 4"/>
          <p:cNvSpPr/>
          <p:nvPr/>
        </p:nvSpPr>
        <p:spPr bwMode="auto">
          <a:xfrm>
            <a:off x="6217920" y="15544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1336112" name="Text 5"/>
          <p:cNvSpPr/>
          <p:nvPr/>
        </p:nvSpPr>
        <p:spPr bwMode="auto">
          <a:xfrm>
            <a:off x="6446520" y="17830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02</a:t>
            </a:r>
            <a:endParaRPr lang="en-US" sz="3400"/>
          </a:p>
        </p:txBody>
      </p:sp>
      <p:sp>
        <p:nvSpPr>
          <p:cNvPr id="2048196868" name="Text 6"/>
          <p:cNvSpPr/>
          <p:nvPr/>
        </p:nvSpPr>
        <p:spPr bwMode="auto">
          <a:xfrm>
            <a:off x="7406640" y="1783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Dataset &amp; Exploratory Analysis</a:t>
            </a:r>
            <a:endParaRPr lang="en-US" sz="1600"/>
          </a:p>
        </p:txBody>
      </p:sp>
      <p:sp>
        <p:nvSpPr>
          <p:cNvPr id="1056808892" name="Shape 7"/>
          <p:cNvSpPr/>
          <p:nvPr/>
        </p:nvSpPr>
        <p:spPr bwMode="auto">
          <a:xfrm>
            <a:off x="640080" y="31089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9917111" name="Text 8"/>
          <p:cNvSpPr/>
          <p:nvPr/>
        </p:nvSpPr>
        <p:spPr bwMode="auto">
          <a:xfrm>
            <a:off x="868680" y="33375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03</a:t>
            </a:r>
            <a:endParaRPr lang="en-US" sz="3400"/>
          </a:p>
        </p:txBody>
      </p:sp>
      <p:sp>
        <p:nvSpPr>
          <p:cNvPr id="1712087263" name="Text 9"/>
          <p:cNvSpPr/>
          <p:nvPr/>
        </p:nvSpPr>
        <p:spPr bwMode="auto">
          <a:xfrm>
            <a:off x="1828800" y="3337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Statistical Validation &amp; Feature Selection</a:t>
            </a:r>
            <a:endParaRPr lang="en-US" sz="1600"/>
          </a:p>
        </p:txBody>
      </p:sp>
      <p:sp>
        <p:nvSpPr>
          <p:cNvPr id="532465686" name="Shape 10"/>
          <p:cNvSpPr/>
          <p:nvPr/>
        </p:nvSpPr>
        <p:spPr bwMode="auto">
          <a:xfrm>
            <a:off x="6217920" y="31089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9236861" name="Text 11"/>
          <p:cNvSpPr/>
          <p:nvPr/>
        </p:nvSpPr>
        <p:spPr bwMode="auto">
          <a:xfrm>
            <a:off x="6446520" y="33375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04</a:t>
            </a:r>
            <a:endParaRPr lang="en-US" sz="3400"/>
          </a:p>
        </p:txBody>
      </p:sp>
      <p:sp>
        <p:nvSpPr>
          <p:cNvPr id="1636027487" name="Text 12"/>
          <p:cNvSpPr/>
          <p:nvPr/>
        </p:nvSpPr>
        <p:spPr bwMode="auto">
          <a:xfrm>
            <a:off x="7406640" y="3337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Model Development &amp; Optimization</a:t>
            </a:r>
            <a:endParaRPr lang="en-US" sz="1600"/>
          </a:p>
        </p:txBody>
      </p:sp>
      <p:sp>
        <p:nvSpPr>
          <p:cNvPr id="1066351650" name="Shape 13"/>
          <p:cNvSpPr/>
          <p:nvPr/>
        </p:nvSpPr>
        <p:spPr bwMode="auto">
          <a:xfrm>
            <a:off x="640080" y="4663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3443977" name="Text 14"/>
          <p:cNvSpPr/>
          <p:nvPr/>
        </p:nvSpPr>
        <p:spPr bwMode="auto">
          <a:xfrm>
            <a:off x="868680" y="4892039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05</a:t>
            </a:r>
            <a:endParaRPr lang="en-US" sz="3400"/>
          </a:p>
        </p:txBody>
      </p:sp>
      <p:sp>
        <p:nvSpPr>
          <p:cNvPr id="1739345125" name="Text 15"/>
          <p:cNvSpPr/>
          <p:nvPr/>
        </p:nvSpPr>
        <p:spPr bwMode="auto">
          <a:xfrm>
            <a:off x="1828800" y="4892039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Deployment Architecture &amp; Live Demo</a:t>
            </a:r>
            <a:endParaRPr lang="en-US" sz="1600"/>
          </a:p>
        </p:txBody>
      </p:sp>
      <p:sp>
        <p:nvSpPr>
          <p:cNvPr id="1275454581" name="Shape 16"/>
          <p:cNvSpPr/>
          <p:nvPr/>
        </p:nvSpPr>
        <p:spPr bwMode="auto">
          <a:xfrm>
            <a:off x="6217920" y="4663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8964910" name="Text 17"/>
          <p:cNvSpPr/>
          <p:nvPr/>
        </p:nvSpPr>
        <p:spPr bwMode="auto">
          <a:xfrm>
            <a:off x="6446520" y="4892039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06</a:t>
            </a:r>
            <a:endParaRPr lang="en-US" sz="3400"/>
          </a:p>
        </p:txBody>
      </p:sp>
      <p:sp>
        <p:nvSpPr>
          <p:cNvPr id="662303808" name="Text 18"/>
          <p:cNvSpPr/>
          <p:nvPr/>
        </p:nvSpPr>
        <p:spPr bwMode="auto">
          <a:xfrm>
            <a:off x="7406640" y="4892039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Business Impact &amp; Next Steps</a:t>
            </a:r>
            <a:endParaRPr lang="en-US" sz="1600"/>
          </a:p>
        </p:txBody>
      </p:sp>
      <p:sp>
        <p:nvSpPr>
          <p:cNvPr id="1849495463" name="Text 19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252748985" name="Text 20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605357" name="Text 0"/>
          <p:cNvSpPr/>
          <p:nvPr/>
        </p:nvSpPr>
        <p:spPr bwMode="auto"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The Business Problem</a:t>
            </a:r>
            <a:endParaRPr lang="en-US" sz="3000"/>
          </a:p>
        </p:txBody>
      </p:sp>
      <p:sp>
        <p:nvSpPr>
          <p:cNvPr id="1355207106" name="Text 1"/>
          <p:cNvSpPr/>
          <p:nvPr/>
        </p:nvSpPr>
        <p:spPr bwMode="auto"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Employee attrition carries direct and hidden costs — recruitment, onboarding, lost productivity, and knowledge drain. Identifying at-risk employees early lets HR intervene before it's too late.</a:t>
            </a:r>
            <a:endParaRPr lang="en-US" sz="1450"/>
          </a:p>
        </p:txBody>
      </p:sp>
      <p:sp>
        <p:nvSpPr>
          <p:cNvPr id="232723044" name="Text 2"/>
          <p:cNvSpPr/>
          <p:nvPr/>
        </p:nvSpPr>
        <p:spPr bwMode="auto"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Our Objectives</a:t>
            </a:r>
            <a:endParaRPr lang="en-US" sz="1600"/>
          </a:p>
        </p:txBody>
      </p:sp>
      <p:sp>
        <p:nvSpPr>
          <p:cNvPr id="30951282" name="Text 3"/>
          <p:cNvSpPr/>
          <p:nvPr/>
        </p:nvSpPr>
        <p:spPr bwMode="auto">
          <a:xfrm>
            <a:off x="548640" y="310896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Identify the strongest drivers of attrition using statistics and feature importance</a:t>
            </a:r>
            <a:endParaRPr lang="en-US" sz="14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Benchmark multiple ML models for the best accuracy / recall trade-off</a:t>
            </a:r>
            <a:endParaRPr lang="en-US" sz="14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Deploy the model as a live, usable tool — not just a notebook</a:t>
            </a:r>
            <a:endParaRPr lang="en-US" sz="14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Add monitoring so prediction quality can be tracked over time</a:t>
            </a:r>
            <a:endParaRPr lang="en-US" sz="1400"/>
          </a:p>
        </p:txBody>
      </p:sp>
      <p:sp>
        <p:nvSpPr>
          <p:cNvPr id="114612326" name="Shape 4"/>
          <p:cNvSpPr/>
          <p:nvPr/>
        </p:nvSpPr>
        <p:spPr bwMode="auto">
          <a:xfrm>
            <a:off x="6400800" y="1417320"/>
            <a:ext cx="5212080" cy="4617720"/>
          </a:xfrm>
          <a:prstGeom prst="roundRect">
            <a:avLst>
              <a:gd name="adj" fmla="val 1584"/>
            </a:avLst>
          </a:prstGeom>
          <a:solidFill>
            <a:srgbClr val="21295C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935928" name="Text 5"/>
          <p:cNvSpPr/>
          <p:nvPr/>
        </p:nvSpPr>
        <p:spPr bwMode="auto">
          <a:xfrm>
            <a:off x="676656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Why it matters</a:t>
            </a:r>
            <a:endParaRPr lang="en-US" sz="1600"/>
          </a:p>
        </p:txBody>
      </p:sp>
      <p:sp>
        <p:nvSpPr>
          <p:cNvPr id="965608432" name="Text 6"/>
          <p:cNvSpPr/>
          <p:nvPr/>
        </p:nvSpPr>
        <p:spPr bwMode="auto">
          <a:xfrm>
            <a:off x="67665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16.1%</a:t>
            </a:r>
            <a:endParaRPr lang="en-US" sz="2600"/>
          </a:p>
        </p:txBody>
      </p:sp>
      <p:sp>
        <p:nvSpPr>
          <p:cNvPr id="1062292326" name="Text 7"/>
          <p:cNvSpPr/>
          <p:nvPr/>
        </p:nvSpPr>
        <p:spPr bwMode="auto">
          <a:xfrm>
            <a:off x="6766560" y="28529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of employees in our data left the company</a:t>
            </a:r>
            <a:endParaRPr lang="en-US" sz="1250"/>
          </a:p>
        </p:txBody>
      </p:sp>
      <p:sp>
        <p:nvSpPr>
          <p:cNvPr id="360513416" name="Text 8"/>
          <p:cNvSpPr/>
          <p:nvPr/>
        </p:nvSpPr>
        <p:spPr bwMode="auto">
          <a:xfrm>
            <a:off x="676656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~ EGP 1,000s</a:t>
            </a:r>
            <a:endParaRPr lang="en-US" sz="2600"/>
          </a:p>
        </p:txBody>
      </p:sp>
      <p:sp>
        <p:nvSpPr>
          <p:cNvPr id="510762269" name="Text 9"/>
          <p:cNvSpPr/>
          <p:nvPr/>
        </p:nvSpPr>
        <p:spPr bwMode="auto">
          <a:xfrm>
            <a:off x="6766560" y="40873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avg. income gap between leavers and stayers</a:t>
            </a:r>
            <a:endParaRPr lang="en-US" sz="1250"/>
          </a:p>
        </p:txBody>
      </p:sp>
      <p:sp>
        <p:nvSpPr>
          <p:cNvPr id="15950104" name="Text 10"/>
          <p:cNvSpPr/>
          <p:nvPr/>
        </p:nvSpPr>
        <p:spPr bwMode="auto">
          <a:xfrm>
            <a:off x="6766560" y="4754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Top signal</a:t>
            </a:r>
            <a:endParaRPr lang="en-US" sz="2600"/>
          </a:p>
        </p:txBody>
      </p:sp>
      <p:sp>
        <p:nvSpPr>
          <p:cNvPr id="325355161" name="Text 11"/>
          <p:cNvSpPr/>
          <p:nvPr/>
        </p:nvSpPr>
        <p:spPr bwMode="auto">
          <a:xfrm>
            <a:off x="6766560" y="53218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Overtime is the #1 recurring driver across every test</a:t>
            </a:r>
            <a:endParaRPr lang="en-US" sz="1250"/>
          </a:p>
        </p:txBody>
      </p:sp>
      <p:sp>
        <p:nvSpPr>
          <p:cNvPr id="1479774501" name="Text 12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2056251243" name="Text 13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526223" name="Text 0"/>
          <p:cNvSpPr/>
          <p:nvPr/>
        </p:nvSpPr>
        <p:spPr bwMode="auto"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Dataset Overview</a:t>
            </a:r>
            <a:endParaRPr lang="en-US" sz="3000"/>
          </a:p>
        </p:txBody>
      </p:sp>
      <p:sp>
        <p:nvSpPr>
          <p:cNvPr id="1752046332" name="Text 1"/>
          <p:cNvSpPr/>
          <p:nvPr/>
        </p:nvSpPr>
        <p:spPr bwMode="auto"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i="1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IBM HR Analytics Employee Attrition &amp; Performance dataset</a:t>
            </a:r>
            <a:endParaRPr lang="en-US" sz="1500"/>
          </a:p>
        </p:txBody>
      </p:sp>
      <p:sp>
        <p:nvSpPr>
          <p:cNvPr id="1706759350" name="Shape 2"/>
          <p:cNvSpPr/>
          <p:nvPr/>
        </p:nvSpPr>
        <p:spPr bwMode="auto">
          <a:xfrm>
            <a:off x="548640" y="17373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3580833" name="Text 3"/>
          <p:cNvSpPr/>
          <p:nvPr/>
        </p:nvSpPr>
        <p:spPr bwMode="auto">
          <a:xfrm>
            <a:off x="685800" y="1965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1,470</a:t>
            </a:r>
            <a:endParaRPr lang="en-US" sz="2600"/>
          </a:p>
        </p:txBody>
      </p:sp>
      <p:sp>
        <p:nvSpPr>
          <p:cNvPr id="982905444" name="Text 4"/>
          <p:cNvSpPr/>
          <p:nvPr/>
        </p:nvSpPr>
        <p:spPr bwMode="auto">
          <a:xfrm>
            <a:off x="685800" y="2834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Employee records</a:t>
            </a:r>
            <a:endParaRPr lang="en-US" sz="1250"/>
          </a:p>
        </p:txBody>
      </p:sp>
      <p:sp>
        <p:nvSpPr>
          <p:cNvPr id="1975344452" name="Shape 5"/>
          <p:cNvSpPr/>
          <p:nvPr/>
        </p:nvSpPr>
        <p:spPr bwMode="auto">
          <a:xfrm>
            <a:off x="3410712" y="17373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492676" name="Text 6"/>
          <p:cNvSpPr/>
          <p:nvPr/>
        </p:nvSpPr>
        <p:spPr bwMode="auto">
          <a:xfrm>
            <a:off x="3547872" y="1965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35</a:t>
            </a:r>
            <a:endParaRPr lang="en-US" sz="2600"/>
          </a:p>
        </p:txBody>
      </p:sp>
      <p:sp>
        <p:nvSpPr>
          <p:cNvPr id="2117541130" name="Text 7"/>
          <p:cNvSpPr/>
          <p:nvPr/>
        </p:nvSpPr>
        <p:spPr bwMode="auto">
          <a:xfrm>
            <a:off x="3547872" y="2834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Features (numeric + categorical)</a:t>
            </a:r>
            <a:endParaRPr lang="en-US" sz="1250"/>
          </a:p>
        </p:txBody>
      </p:sp>
      <p:sp>
        <p:nvSpPr>
          <p:cNvPr id="874901726" name="Shape 8"/>
          <p:cNvSpPr/>
          <p:nvPr/>
        </p:nvSpPr>
        <p:spPr bwMode="auto">
          <a:xfrm>
            <a:off x="6272784" y="17373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3823116" name="Text 9"/>
          <p:cNvSpPr/>
          <p:nvPr/>
        </p:nvSpPr>
        <p:spPr bwMode="auto">
          <a:xfrm>
            <a:off x="6409944" y="1965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0</a:t>
            </a:r>
            <a:endParaRPr lang="en-US" sz="2600"/>
          </a:p>
        </p:txBody>
      </p:sp>
      <p:sp>
        <p:nvSpPr>
          <p:cNvPr id="1336365726" name="Text 10"/>
          <p:cNvSpPr/>
          <p:nvPr/>
        </p:nvSpPr>
        <p:spPr bwMode="auto">
          <a:xfrm>
            <a:off x="6409944" y="2834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Missing values or duplicates</a:t>
            </a:r>
            <a:endParaRPr lang="en-US" sz="1250"/>
          </a:p>
        </p:txBody>
      </p:sp>
      <p:sp>
        <p:nvSpPr>
          <p:cNvPr id="1521763441" name="Shape 11"/>
          <p:cNvSpPr/>
          <p:nvPr/>
        </p:nvSpPr>
        <p:spPr bwMode="auto">
          <a:xfrm>
            <a:off x="9134856" y="17373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0963459" name="Text 12"/>
          <p:cNvSpPr/>
          <p:nvPr/>
        </p:nvSpPr>
        <p:spPr bwMode="auto">
          <a:xfrm>
            <a:off x="9272016" y="1965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83.9% / 16.1%</a:t>
            </a:r>
            <a:endParaRPr lang="en-US" sz="2600"/>
          </a:p>
        </p:txBody>
      </p:sp>
      <p:sp>
        <p:nvSpPr>
          <p:cNvPr id="1790298733" name="Text 13"/>
          <p:cNvSpPr/>
          <p:nvPr/>
        </p:nvSpPr>
        <p:spPr bwMode="auto">
          <a:xfrm>
            <a:off x="9272016" y="2834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Stayed vs. Left (imbalanced)</a:t>
            </a:r>
            <a:endParaRPr lang="en-US" sz="1250"/>
          </a:p>
        </p:txBody>
      </p:sp>
      <p:sp>
        <p:nvSpPr>
          <p:cNvPr id="401330365" name="Shape 14"/>
          <p:cNvSpPr/>
          <p:nvPr/>
        </p:nvSpPr>
        <p:spPr bwMode="auto">
          <a:xfrm>
            <a:off x="548640" y="411480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EAF3F7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452414" name="Text 15"/>
          <p:cNvSpPr/>
          <p:nvPr/>
        </p:nvSpPr>
        <p:spPr bwMode="auto">
          <a:xfrm>
            <a:off x="914400" y="43434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Because the data had no missing values or duplicates, preprocessing focused on encoding categorical variables, engineering new features (SalaryExperienceRatio, TenureGroup), and correcting class imbalance with SMOTE — rather than data cleaning.</a:t>
            </a:r>
            <a:endParaRPr lang="en-US" sz="1500"/>
          </a:p>
        </p:txBody>
      </p:sp>
      <p:sp>
        <p:nvSpPr>
          <p:cNvPr id="772517354" name="Text 16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2144569245" name="Text 17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699750" name="Text 0"/>
          <p:cNvSpPr/>
          <p:nvPr/>
        </p:nvSpPr>
        <p:spPr bwMode="auto">
          <a:xfrm>
            <a:off x="548640" y="411480"/>
            <a:ext cx="110642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Dataset Overview</a:t>
            </a:r>
            <a:endParaRPr lang="en-US" sz="3000"/>
          </a:p>
        </p:txBody>
      </p:sp>
      <p:sp>
        <p:nvSpPr>
          <p:cNvPr id="340636244" name="Text 1"/>
          <p:cNvSpPr/>
          <p:nvPr/>
        </p:nvSpPr>
        <p:spPr bwMode="auto">
          <a:xfrm>
            <a:off x="548640" y="1051560"/>
            <a:ext cx="110642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i="1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IBM HR Analytics Employee Attrition &amp; Performance dataset</a:t>
            </a:r>
            <a:endParaRPr lang="en-US" sz="1500"/>
          </a:p>
        </p:txBody>
      </p:sp>
      <p:sp>
        <p:nvSpPr>
          <p:cNvPr id="1224450532" name="Text 16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1631195089" name="Text 17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900"/>
          </a:p>
        </p:txBody>
      </p:sp>
      <p:pic>
        <p:nvPicPr>
          <p:cNvPr id="1347260958" name="Picture 1347260957"/>
          <p:cNvPicPr>
            <a:picLocks noChangeAspect="1"/>
          </p:cNvPicPr>
          <p:nvPr/>
        </p:nvPicPr>
        <p:blipFill rotWithShape="1">
          <a:blip r:embed="rId3"/>
          <a:srcRect l="64237" r="-815"/>
          <a:stretch/>
        </p:blipFill>
        <p:spPr bwMode="auto">
          <a:xfrm>
            <a:off x="247378" y="1802068"/>
            <a:ext cx="3501285" cy="3774665"/>
          </a:xfrm>
          <a:prstGeom prst="rect">
            <a:avLst/>
          </a:prstGeom>
        </p:spPr>
      </p:pic>
      <p:pic>
        <p:nvPicPr>
          <p:cNvPr id="895084305" name="Picture 895084304"/>
          <p:cNvPicPr>
            <a:picLocks noChangeAspect="1"/>
          </p:cNvPicPr>
          <p:nvPr/>
        </p:nvPicPr>
        <p:blipFill rotWithShape="1">
          <a:blip r:embed="rId4"/>
          <a:srcRect l="11409" t="49283" r="46119"/>
          <a:stretch/>
        </p:blipFill>
        <p:spPr bwMode="auto">
          <a:xfrm>
            <a:off x="3748664" y="2083977"/>
            <a:ext cx="4002904" cy="3210846"/>
          </a:xfrm>
          <a:prstGeom prst="rect">
            <a:avLst/>
          </a:prstGeom>
        </p:spPr>
      </p:pic>
      <p:pic>
        <p:nvPicPr>
          <p:cNvPr id="274133186" name="Picture 274133185"/>
          <p:cNvPicPr>
            <a:picLocks noChangeAspect="1"/>
          </p:cNvPicPr>
          <p:nvPr/>
        </p:nvPicPr>
        <p:blipFill rotWithShape="1">
          <a:blip r:embed="rId4"/>
          <a:srcRect l="49090" t="-1120" b="50000"/>
          <a:stretch/>
        </p:blipFill>
        <p:spPr bwMode="auto">
          <a:xfrm>
            <a:off x="7454767" y="2185423"/>
            <a:ext cx="4523872" cy="32376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88663" name="Text 0"/>
          <p:cNvSpPr/>
          <p:nvPr/>
        </p:nvSpPr>
        <p:spPr bwMode="auto"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Key EDA Insights</a:t>
            </a:r>
            <a:endParaRPr lang="en-US" sz="3000"/>
          </a:p>
        </p:txBody>
      </p:sp>
      <p:sp>
        <p:nvSpPr>
          <p:cNvPr id="786970022" name="Text 1"/>
          <p:cNvSpPr/>
          <p:nvPr/>
        </p:nvSpPr>
        <p:spPr bwMode="auto">
          <a:xfrm>
            <a:off x="548640" y="1463040"/>
            <a:ext cx="55778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Most employees are 30–40 years old; Monthly Income is right-skewed</a:t>
            </a:r>
            <a:endParaRPr lang="en-US" sz="1450"/>
          </a:p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Employees who work overtime leave at a much higher rate</a:t>
            </a:r>
            <a:endParaRPr lang="en-US" sz="1450"/>
          </a:p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Attrition varies meaningfully by department and job role</a:t>
            </a:r>
            <a:endParaRPr lang="en-US" sz="1450"/>
          </a:p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Most employees rate work-life balance as 3 (“Better”) on a 1–4 scale</a:t>
            </a:r>
            <a:endParaRPr lang="en-US" sz="1450"/>
          </a:p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145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Outliers concentrated in Monthly Income &amp; Total Working Years</a:t>
            </a:r>
            <a:endParaRPr lang="en-US" sz="1450"/>
          </a:p>
        </p:txBody>
      </p:sp>
      <p:sp>
        <p:nvSpPr>
          <p:cNvPr id="1500081341" name="Shape 2"/>
          <p:cNvSpPr/>
          <p:nvPr/>
        </p:nvSpPr>
        <p:spPr bwMode="auto">
          <a:xfrm>
            <a:off x="6400800" y="14630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7096005" name="Text 3"/>
          <p:cNvSpPr/>
          <p:nvPr/>
        </p:nvSpPr>
        <p:spPr bwMode="auto">
          <a:xfrm>
            <a:off x="676656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Correlation Highlights</a:t>
            </a:r>
            <a:endParaRPr lang="en-US" sz="1600"/>
          </a:p>
        </p:txBody>
      </p:sp>
      <p:sp>
        <p:nvSpPr>
          <p:cNvPr id="1052912993" name="Text 4"/>
          <p:cNvSpPr/>
          <p:nvPr/>
        </p:nvSpPr>
        <p:spPr bwMode="auto">
          <a:xfrm>
            <a:off x="676656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1350">
                <a:solidFill>
                  <a:srgbClr val="E3EEF3"/>
                </a:solidFill>
                <a:latin typeface="Calibri"/>
                <a:ea typeface="Calibri"/>
                <a:cs typeface="Calibri"/>
              </a:rPr>
              <a:t>YearsAtCompany, YearsInCurrentRole &amp; YearsWithCurrManager are strongly correlated</a:t>
            </a:r>
            <a:endParaRPr lang="en-US" sz="1350"/>
          </a:p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1350">
                <a:solidFill>
                  <a:srgbClr val="E3EEF3"/>
                </a:solidFill>
                <a:latin typeface="Calibri"/>
                <a:ea typeface="Calibri"/>
                <a:cs typeface="Calibri"/>
              </a:rPr>
              <a:t>MonthlyIncome correlates with JobLevel and TotalWorkingYears</a:t>
            </a:r>
            <a:endParaRPr lang="en-US" sz="1350"/>
          </a:p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1350">
                <a:solidFill>
                  <a:srgbClr val="E3EEF3"/>
                </a:solidFill>
                <a:latin typeface="Calibri"/>
                <a:ea typeface="Calibri"/>
                <a:cs typeface="Calibri"/>
              </a:rPr>
              <a:t>Tenure and role stability move together — employees who stay longer keep the same role and manager</a:t>
            </a:r>
            <a:endParaRPr lang="en-US" sz="1350"/>
          </a:p>
        </p:txBody>
      </p:sp>
      <p:sp>
        <p:nvSpPr>
          <p:cNvPr id="1607302555" name="Text 5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862838584" name="Text 6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2500" name="Text 0"/>
          <p:cNvSpPr/>
          <p:nvPr/>
        </p:nvSpPr>
        <p:spPr bwMode="auto"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Statistical Validation</a:t>
            </a:r>
            <a:endParaRPr lang="en-US" sz="3000"/>
          </a:p>
        </p:txBody>
      </p:sp>
      <p:sp>
        <p:nvSpPr>
          <p:cNvPr id="1961912835" name="Text 1"/>
          <p:cNvSpPr/>
          <p:nvPr/>
        </p:nvSpPr>
        <p:spPr bwMode="auto"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i="1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Hypothesis tests confirm which features truly drive attrition</a:t>
            </a:r>
            <a:endParaRPr lang="en-US" sz="1500"/>
          </a:p>
        </p:txBody>
      </p:sp>
      <p:graphicFrame>
        <p:nvGraphicFramePr>
          <p:cNvPr id="1172475023" name="Table 0"/>
          <p:cNvGraphicFramePr>
            <a:graphicFrameLocks noGrp="1"/>
          </p:cNvGraphicFramePr>
          <p:nvPr/>
        </p:nvGraphicFramePr>
        <p:xfrm>
          <a:off x="548640" y="1600200"/>
          <a:ext cx="11064240" cy="32918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/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Comparison</a:t>
                      </a:r>
                      <a:endParaRPr lang="en-US" sz="1200"/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/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Conclusion</a:t>
                      </a:r>
                      <a:endParaRPr lang="en-US" sz="1200"/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t-test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Monthly Income: Left vs Stayed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t=-7.48, p&lt;0.001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Leavers earn significantly less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Chi-squared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Job Role vs Attrition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χ²=86.19, p&lt;0.001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Attrition differs by job role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Chi-squared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OverTime vs Attrition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χ²=87.56, p&lt;0.001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Overtime strongly linked to leaving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ANOVA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Income across Job Roles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F=810.21, p&lt;0.001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Income differs sharply by role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ANOVA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Income across Work-Life Balance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F=0.61, p=0.607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50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</a:rPr>
                        <a:t>Not significant</a:t>
                      </a:r>
                      <a:endParaRPr lang="en-US"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78264843" name="Shape 2"/>
          <p:cNvSpPr/>
          <p:nvPr/>
        </p:nvSpPr>
        <p:spPr bwMode="auto">
          <a:xfrm>
            <a:off x="548640" y="5120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AF3F7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4755361" name="Text 3"/>
          <p:cNvSpPr/>
          <p:nvPr/>
        </p:nvSpPr>
        <p:spPr bwMode="auto">
          <a:xfrm>
            <a:off x="914400" y="52578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Bottom line: Salary, overtime, and job role are statistically validated drivers of attrition — directly shaping our feature selection and HR recommendations.</a:t>
            </a:r>
            <a:endParaRPr lang="en-US" sz="1400"/>
          </a:p>
        </p:txBody>
      </p:sp>
      <p:sp>
        <p:nvSpPr>
          <p:cNvPr id="226753208" name="Text 4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790885929" name="Text 5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231833" name="Text 0"/>
          <p:cNvSpPr/>
          <p:nvPr/>
        </p:nvSpPr>
        <p:spPr bwMode="auto"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Feature Engineering &amp; Selection</a:t>
            </a:r>
            <a:endParaRPr lang="en-US" sz="3000"/>
          </a:p>
        </p:txBody>
      </p:sp>
      <p:sp>
        <p:nvSpPr>
          <p:cNvPr id="1448347164" name="Text 1"/>
          <p:cNvSpPr/>
          <p:nvPr/>
        </p:nvSpPr>
        <p:spPr bwMode="auto">
          <a:xfrm>
            <a:off x="548640" y="1463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Engineered Features</a:t>
            </a:r>
            <a:endParaRPr lang="en-US" sz="1600"/>
          </a:p>
        </p:txBody>
      </p:sp>
      <p:sp>
        <p:nvSpPr>
          <p:cNvPr id="649245860" name="Text 2"/>
          <p:cNvSpPr/>
          <p:nvPr/>
        </p:nvSpPr>
        <p:spPr bwMode="auto">
          <a:xfrm>
            <a:off x="548640" y="18745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SalaryExperienceRatio — balances pay against work experience</a:t>
            </a:r>
            <a:endParaRPr lang="en-US" sz="14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TenureGroup — bins YearsAtCompany into New / Junior / Mid / Senior career stages</a:t>
            </a:r>
            <a:endParaRPr lang="en-US" sz="1400"/>
          </a:p>
        </p:txBody>
      </p:sp>
      <p:sp>
        <p:nvSpPr>
          <p:cNvPr id="2038332521" name="Text 3"/>
          <p:cNvSpPr/>
          <p:nvPr/>
        </p:nvSpPr>
        <p:spPr bwMode="auto">
          <a:xfrm>
            <a:off x="548640" y="3383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Selection Techniques</a:t>
            </a:r>
            <a:endParaRPr lang="en-US" sz="1600"/>
          </a:p>
        </p:txBody>
      </p:sp>
      <p:sp>
        <p:nvSpPr>
          <p:cNvPr id="97040401" name="Text 4"/>
          <p:cNvSpPr/>
          <p:nvPr/>
        </p:nvSpPr>
        <p:spPr bwMode="auto">
          <a:xfrm>
            <a:off x="548640" y="37947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RFE (Logistic Regression): 10 features selected, incl. SalaryExperienceRatio</a:t>
            </a:r>
            <a:endParaRPr lang="en-US" sz="14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Random Forest importance: MonthlyIncome, Age, OverTime lead the ranking</a:t>
            </a:r>
            <a:endParaRPr lang="en-US" sz="14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Final set = union of both techniques → Employee_Attrition_Selected_Features.csv</a:t>
            </a:r>
            <a:endParaRPr lang="en-US" sz="1400"/>
          </a:p>
        </p:txBody>
      </p:sp>
      <p:sp>
        <p:nvSpPr>
          <p:cNvPr id="902749263" name="Shape 5"/>
          <p:cNvSpPr/>
          <p:nvPr/>
        </p:nvSpPr>
        <p:spPr bwMode="auto">
          <a:xfrm>
            <a:off x="6400800" y="14630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5817023" name="Text 6"/>
          <p:cNvSpPr/>
          <p:nvPr/>
        </p:nvSpPr>
        <p:spPr bwMode="auto">
          <a:xfrm>
            <a:off x="676656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Consistently Top-Ranked</a:t>
            </a:r>
            <a:endParaRPr lang="en-US" sz="1600"/>
          </a:p>
        </p:txBody>
      </p:sp>
      <p:sp>
        <p:nvSpPr>
          <p:cNvPr id="24251615" name="Shape 7"/>
          <p:cNvSpPr/>
          <p:nvPr/>
        </p:nvSpPr>
        <p:spPr bwMode="auto">
          <a:xfrm>
            <a:off x="6766560" y="228600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0613575" name="Text 8"/>
          <p:cNvSpPr/>
          <p:nvPr/>
        </p:nvSpPr>
        <p:spPr bwMode="auto">
          <a:xfrm>
            <a:off x="6766560" y="22860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MonthlyIncome</a:t>
            </a:r>
            <a:endParaRPr lang="en-US" sz="1400"/>
          </a:p>
        </p:txBody>
      </p:sp>
      <p:sp>
        <p:nvSpPr>
          <p:cNvPr id="1941415305" name="Shape 9"/>
          <p:cNvSpPr/>
          <p:nvPr/>
        </p:nvSpPr>
        <p:spPr bwMode="auto">
          <a:xfrm>
            <a:off x="6766560" y="2907792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6364026" name="Text 10"/>
          <p:cNvSpPr/>
          <p:nvPr/>
        </p:nvSpPr>
        <p:spPr bwMode="auto">
          <a:xfrm>
            <a:off x="6766560" y="29077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OverTime</a:t>
            </a:r>
            <a:endParaRPr lang="en-US" sz="1400"/>
          </a:p>
        </p:txBody>
      </p:sp>
      <p:sp>
        <p:nvSpPr>
          <p:cNvPr id="1955678537" name="Shape 11"/>
          <p:cNvSpPr/>
          <p:nvPr/>
        </p:nvSpPr>
        <p:spPr bwMode="auto">
          <a:xfrm>
            <a:off x="6766560" y="3529584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2E6E8E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9393635" name="Text 12"/>
          <p:cNvSpPr/>
          <p:nvPr/>
        </p:nvSpPr>
        <p:spPr bwMode="auto">
          <a:xfrm>
            <a:off x="6766560" y="352958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SalaryExperienceRatio</a:t>
            </a:r>
            <a:endParaRPr lang="en-US" sz="1400"/>
          </a:p>
        </p:txBody>
      </p:sp>
      <p:sp>
        <p:nvSpPr>
          <p:cNvPr id="1934917376" name="Shape 13"/>
          <p:cNvSpPr/>
          <p:nvPr/>
        </p:nvSpPr>
        <p:spPr bwMode="auto">
          <a:xfrm>
            <a:off x="6766560" y="4151376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2E6E8E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7332103" name="Text 14"/>
          <p:cNvSpPr/>
          <p:nvPr/>
        </p:nvSpPr>
        <p:spPr bwMode="auto">
          <a:xfrm>
            <a:off x="6766560" y="415137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</a:t>
            </a:r>
            <a:endParaRPr lang="en-US" sz="1400"/>
          </a:p>
        </p:txBody>
      </p:sp>
      <p:sp>
        <p:nvSpPr>
          <p:cNvPr id="1674859988" name="Shape 15"/>
          <p:cNvSpPr/>
          <p:nvPr/>
        </p:nvSpPr>
        <p:spPr bwMode="auto">
          <a:xfrm>
            <a:off x="6766560" y="4773168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2E6E8E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658132" name="Text 16"/>
          <p:cNvSpPr/>
          <p:nvPr/>
        </p:nvSpPr>
        <p:spPr bwMode="auto">
          <a:xfrm>
            <a:off x="6766560" y="477316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TotalWorkingYears</a:t>
            </a:r>
            <a:endParaRPr lang="en-US" sz="1400"/>
          </a:p>
        </p:txBody>
      </p:sp>
      <p:sp>
        <p:nvSpPr>
          <p:cNvPr id="648492413" name="Text 17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1639404005" name="Text 18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7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451280" name="Text 0"/>
          <p:cNvSpPr/>
          <p:nvPr/>
        </p:nvSpPr>
        <p:spPr bwMode="auto">
          <a:xfrm>
            <a:off x="548640" y="411480"/>
            <a:ext cx="110642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graphs</a:t>
            </a:r>
            <a:endParaRPr lang="en-US" sz="3000"/>
          </a:p>
        </p:txBody>
      </p:sp>
      <p:sp>
        <p:nvSpPr>
          <p:cNvPr id="1000236409" name="Text 17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136505506" name="Text 18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7</a:t>
            </a:r>
            <a:endParaRPr lang="en-US" sz="900"/>
          </a:p>
        </p:txBody>
      </p:sp>
      <p:pic>
        <p:nvPicPr>
          <p:cNvPr id="675513297" name="Picture 67551329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85747" y="1190624"/>
            <a:ext cx="10445606" cy="5146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718258" name="Text 0"/>
          <p:cNvSpPr/>
          <p:nvPr/>
        </p:nvSpPr>
        <p:spPr bwMode="auto"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Model Development</a:t>
            </a:r>
            <a:endParaRPr lang="en-US" sz="3000"/>
          </a:p>
        </p:txBody>
      </p:sp>
      <p:sp>
        <p:nvSpPr>
          <p:cNvPr id="861604982" name="Text 1"/>
          <p:cNvSpPr/>
          <p:nvPr/>
        </p:nvSpPr>
        <p:spPr bwMode="auto"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i="1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4 classifiers, SMOTE-balanced training data, 5-fold stratified CV</a:t>
            </a:r>
            <a:endParaRPr lang="en-US" sz="1500"/>
          </a:p>
        </p:txBody>
      </p:sp>
      <p:graphicFrame>
        <p:nvGraphicFramePr>
          <p:cNvPr id="1576692231" name="Chart 0"/>
          <p:cNvGraphicFramePr>
            <a:graphicFrameLocks/>
          </p:cNvGraphicFramePr>
          <p:nvPr/>
        </p:nvGraphicFramePr>
        <p:xfrm>
          <a:off x="548640" y="155448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65991189" name="Shape 2"/>
          <p:cNvSpPr/>
          <p:nvPr/>
        </p:nvSpPr>
        <p:spPr bwMode="auto">
          <a:xfrm>
            <a:off x="7772400" y="1554480"/>
            <a:ext cx="3840480" cy="4480560"/>
          </a:xfrm>
          <a:prstGeom prst="roundRect">
            <a:avLst>
              <a:gd name="adj" fmla="val 1905"/>
            </a:avLst>
          </a:prstGeom>
          <a:solidFill>
            <a:srgbClr val="21295C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4198084" name="Text 3"/>
          <p:cNvSpPr/>
          <p:nvPr/>
        </p:nvSpPr>
        <p:spPr bwMode="auto">
          <a:xfrm>
            <a:off x="8092440" y="1783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Why Accuracy Isn't Enough</a:t>
            </a:r>
            <a:endParaRPr lang="en-US" sz="1500"/>
          </a:p>
        </p:txBody>
      </p:sp>
      <p:sp>
        <p:nvSpPr>
          <p:cNvPr id="1757354220" name="Text 4"/>
          <p:cNvSpPr/>
          <p:nvPr/>
        </p:nvSpPr>
        <p:spPr bwMode="auto">
          <a:xfrm>
            <a:off x="8092440" y="242316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E3EEF3"/>
                </a:solidFill>
                <a:latin typeface="Calibri"/>
                <a:ea typeface="Calibri"/>
                <a:cs typeface="Calibri"/>
              </a:rPr>
              <a:t>Random Forest &amp; XGBoost score highest on accuracy...</a:t>
            </a:r>
            <a:endParaRPr lang="en-US" sz="1250"/>
          </a:p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E3EEF3"/>
                </a:solidFill>
                <a:latin typeface="Calibri"/>
                <a:ea typeface="Calibri"/>
                <a:cs typeface="Calibri"/>
              </a:rPr>
              <a:t>...but Logistic Regression catches far more real leavers (77% recall)</a:t>
            </a:r>
            <a:endParaRPr lang="en-US" sz="1250"/>
          </a:p>
          <a:p>
            <a:pPr marL="342900" indent="-342900">
              <a:spcAft>
                <a:spcPts val="1400"/>
              </a:spcAft>
              <a:buSzPct val="100000"/>
              <a:buChar char="•"/>
              <a:defRPr/>
            </a:pPr>
            <a:r>
              <a:rPr lang="en-US" sz="1250">
                <a:solidFill>
                  <a:srgbClr val="E3EEF3"/>
                </a:solidFill>
                <a:latin typeface="Calibri"/>
                <a:ea typeface="Calibri"/>
                <a:cs typeface="Calibri"/>
              </a:rPr>
              <a:t>For attrition, missing a true leaver is costlier than a false alarm</a:t>
            </a:r>
            <a:endParaRPr lang="en-US" sz="1250"/>
          </a:p>
        </p:txBody>
      </p:sp>
      <p:sp>
        <p:nvSpPr>
          <p:cNvPr id="1401853991" name="Text 5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1807425115" name="Text 6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8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636718" name="Text 0"/>
          <p:cNvSpPr/>
          <p:nvPr/>
        </p:nvSpPr>
        <p:spPr bwMode="auto"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Optimizing the Final Model</a:t>
            </a:r>
            <a:endParaRPr lang="en-US" sz="3000"/>
          </a:p>
        </p:txBody>
      </p:sp>
      <p:sp>
        <p:nvSpPr>
          <p:cNvPr id="1428948415" name="Text 1"/>
          <p:cNvSpPr/>
          <p:nvPr/>
        </p:nvSpPr>
        <p:spPr bwMode="auto">
          <a:xfrm>
            <a:off x="548640" y="1463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GridSearchCV Tuning (XGBoost)</a:t>
            </a:r>
            <a:endParaRPr lang="en-US" sz="1600"/>
          </a:p>
        </p:txBody>
      </p:sp>
      <p:graphicFrame>
        <p:nvGraphicFramePr>
          <p:cNvPr id="544243938" name="Table 0"/>
          <p:cNvGraphicFramePr>
            <a:graphicFrameLocks noGrp="1"/>
          </p:cNvGraphicFramePr>
          <p:nvPr/>
        </p:nvGraphicFramePr>
        <p:xfrm>
          <a:off x="548640" y="1874520"/>
          <a:ext cx="539496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/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Best Value</a:t>
                      </a:r>
                      <a:endParaRPr lang="en-US" sz="1200"/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learning_rate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0.01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max_depth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n_estimators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400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Best CV F1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0.8831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algn="ctr">
                      <a:solidFill>
                        <a:srgbClr val="D9E2E6"/>
                      </a:solidFill>
                    </a:lnL>
                    <a:lnR w="9525" algn="ctr">
                      <a:solidFill>
                        <a:srgbClr val="D9E2E6"/>
                      </a:solidFill>
                    </a:lnR>
                    <a:lnT w="9525" algn="ctr">
                      <a:solidFill>
                        <a:srgbClr val="D9E2E6"/>
                      </a:solidFill>
                    </a:lnT>
                    <a:lnB w="9525" algn="ctr">
                      <a:solidFill>
                        <a:srgbClr val="D9E2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4226781" name="Text 2"/>
          <p:cNvSpPr/>
          <p:nvPr/>
        </p:nvSpPr>
        <p:spPr bwMode="auto">
          <a:xfrm>
            <a:off x="548640" y="3886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27 combinations × 5-fold CV = 135 fits tested</a:t>
            </a:r>
            <a:endParaRPr lang="en-US" sz="1200"/>
          </a:p>
        </p:txBody>
      </p:sp>
      <p:sp>
        <p:nvSpPr>
          <p:cNvPr id="318153608" name="Text 3"/>
          <p:cNvSpPr/>
          <p:nvPr/>
        </p:nvSpPr>
        <p:spPr bwMode="auto">
          <a:xfrm>
            <a:off x="548640" y="43891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Decision Threshold Tuning</a:t>
            </a:r>
            <a:endParaRPr lang="en-US" sz="1600"/>
          </a:p>
        </p:txBody>
      </p:sp>
      <p:sp>
        <p:nvSpPr>
          <p:cNvPr id="292785901" name="Text 4"/>
          <p:cNvSpPr/>
          <p:nvPr/>
        </p:nvSpPr>
        <p:spPr bwMode="auto">
          <a:xfrm>
            <a:off x="548640" y="47548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en-US" sz="1300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Default 0.5 cutoff under-catches leavers. Testing 0.20–0.50 found the best F1 (</a:t>
            </a:r>
            <a:r>
              <a:rPr lang="en-US" sz="1300" dirty="0"/>
              <a:t>0.4189</a:t>
            </a:r>
            <a:r>
              <a:rPr lang="en-US" sz="1300" dirty="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) at a threshold of 0.35 — adopted for production.</a:t>
            </a:r>
            <a:endParaRPr lang="en-US" sz="1300" dirty="0"/>
          </a:p>
        </p:txBody>
      </p:sp>
      <p:sp>
        <p:nvSpPr>
          <p:cNvPr id="1103045231" name="Shape 5"/>
          <p:cNvSpPr/>
          <p:nvPr/>
        </p:nvSpPr>
        <p:spPr bwMode="auto">
          <a:xfrm>
            <a:off x="6410325" y="14630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946861" name="Text 6"/>
          <p:cNvSpPr/>
          <p:nvPr/>
        </p:nvSpPr>
        <p:spPr bwMode="auto">
          <a:xfrm>
            <a:off x="676656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Final Tuned Model — Test Set</a:t>
            </a:r>
            <a:endParaRPr lang="en-US" sz="1600"/>
          </a:p>
        </p:txBody>
      </p:sp>
      <p:sp>
        <p:nvSpPr>
          <p:cNvPr id="743620138" name="Text 7"/>
          <p:cNvSpPr/>
          <p:nvPr/>
        </p:nvSpPr>
        <p:spPr bwMode="auto">
          <a:xfrm>
            <a:off x="67665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81%</a:t>
            </a:r>
            <a:endParaRPr lang="en-US" sz="2400" dirty="0"/>
          </a:p>
        </p:txBody>
      </p:sp>
      <p:sp>
        <p:nvSpPr>
          <p:cNvPr id="719231140" name="Text 8"/>
          <p:cNvSpPr/>
          <p:nvPr/>
        </p:nvSpPr>
        <p:spPr bwMode="auto">
          <a:xfrm>
            <a:off x="676656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Test Accuracy</a:t>
            </a:r>
            <a:endParaRPr lang="en-US" sz="1250"/>
          </a:p>
        </p:txBody>
      </p:sp>
      <p:sp>
        <p:nvSpPr>
          <p:cNvPr id="283296465" name="Text 9"/>
          <p:cNvSpPr/>
          <p:nvPr/>
        </p:nvSpPr>
        <p:spPr bwMode="auto">
          <a:xfrm>
            <a:off x="676656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0.74</a:t>
            </a:r>
            <a:endParaRPr lang="en-US" sz="2400" dirty="0"/>
          </a:p>
        </p:txBody>
      </p:sp>
      <p:sp>
        <p:nvSpPr>
          <p:cNvPr id="1765763396" name="Text 10"/>
          <p:cNvSpPr/>
          <p:nvPr/>
        </p:nvSpPr>
        <p:spPr bwMode="auto">
          <a:xfrm>
            <a:off x="676656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ROC-AUC</a:t>
            </a:r>
            <a:endParaRPr lang="en-US" sz="1250"/>
          </a:p>
        </p:txBody>
      </p:sp>
      <p:sp>
        <p:nvSpPr>
          <p:cNvPr id="721052706" name="Text 11"/>
          <p:cNvSpPr/>
          <p:nvPr/>
        </p:nvSpPr>
        <p:spPr bwMode="auto">
          <a:xfrm>
            <a:off x="6766560" y="4754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0.45 / 0.30</a:t>
            </a:r>
            <a:endParaRPr lang="en-US" sz="2400"/>
          </a:p>
        </p:txBody>
      </p:sp>
      <p:sp>
        <p:nvSpPr>
          <p:cNvPr id="560301378" name="Text 12"/>
          <p:cNvSpPr/>
          <p:nvPr/>
        </p:nvSpPr>
        <p:spPr bwMode="auto">
          <a:xfrm>
            <a:off x="676656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CFE3EE"/>
                </a:solidFill>
                <a:latin typeface="Calibri"/>
                <a:ea typeface="Calibri"/>
                <a:cs typeface="Calibri"/>
              </a:rPr>
              <a:t>Precision / Recall (Attrition = Yes)</a:t>
            </a:r>
            <a:endParaRPr lang="en-US" sz="1250"/>
          </a:p>
        </p:txBody>
      </p:sp>
      <p:sp>
        <p:nvSpPr>
          <p:cNvPr id="682679811" name="Text 13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173991851" name="Text 14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9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40911" name="Text 0"/>
          <p:cNvSpPr/>
          <p:nvPr/>
        </p:nvSpPr>
        <p:spPr bwMode="auto"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graphs</a:t>
            </a:r>
            <a:endParaRPr lang="en-US" sz="3000"/>
          </a:p>
        </p:txBody>
      </p:sp>
      <p:sp>
        <p:nvSpPr>
          <p:cNvPr id="867955780" name="Text 17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2041714468" name="Text 18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7</a:t>
            </a:r>
            <a:endParaRPr lang="en-US" sz="9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E42FC-3A5B-E88B-AB8E-3960AEAD8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585" y="1234440"/>
            <a:ext cx="7615002" cy="47766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440068" name="Text 0"/>
          <p:cNvSpPr/>
          <p:nvPr/>
        </p:nvSpPr>
        <p:spPr bwMode="auto"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graphs</a:t>
            </a:r>
            <a:endParaRPr lang="en-US" sz="3000"/>
          </a:p>
        </p:txBody>
      </p:sp>
      <p:sp>
        <p:nvSpPr>
          <p:cNvPr id="456973678" name="Text 17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1587891351" name="Text 18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7</a:t>
            </a:r>
            <a:endParaRPr lang="en-US" sz="900"/>
          </a:p>
        </p:txBody>
      </p:sp>
      <p:pic>
        <p:nvPicPr>
          <p:cNvPr id="1720699001" name="Picture 172069900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41605" y="1214737"/>
            <a:ext cx="11850393" cy="5108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350087" name="Text 0"/>
          <p:cNvSpPr/>
          <p:nvPr/>
        </p:nvSpPr>
        <p:spPr bwMode="auto"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Deployment Architecture</a:t>
            </a:r>
            <a:endParaRPr lang="en-US" sz="3000"/>
          </a:p>
        </p:txBody>
      </p:sp>
      <p:sp>
        <p:nvSpPr>
          <p:cNvPr id="794373618" name="Shape 1"/>
          <p:cNvSpPr/>
          <p:nvPr/>
        </p:nvSpPr>
        <p:spPr bwMode="auto">
          <a:xfrm>
            <a:off x="640080" y="23774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86590" name="Text 2"/>
          <p:cNvSpPr/>
          <p:nvPr/>
        </p:nvSpPr>
        <p:spPr bwMode="auto">
          <a:xfrm>
            <a:off x="77724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Trained Model</a:t>
            </a:r>
            <a:endParaRPr lang="en-US" sz="1500"/>
          </a:p>
        </p:txBody>
      </p:sp>
      <p:sp>
        <p:nvSpPr>
          <p:cNvPr id="33984315" name="Text 3"/>
          <p:cNvSpPr/>
          <p:nvPr/>
        </p:nvSpPr>
        <p:spPr bwMode="auto">
          <a:xfrm>
            <a:off x="777240" y="3017519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E3EEF3"/>
                </a:solidFill>
                <a:latin typeface="Calibri"/>
                <a:ea typeface="Calibri"/>
                <a:cs typeface="Calibri"/>
              </a:rPr>
              <a:t>XGBoost + scaler +</a:t>
            </a:r>
            <a:endParaRPr lang="en-US" sz="1150"/>
          </a:p>
          <a:p>
            <a:pPr marL="0" indent="0" algn="ctr">
              <a:buNone/>
              <a:defRPr/>
            </a:pPr>
            <a:r>
              <a:rPr lang="en-US" sz="1150">
                <a:solidFill>
                  <a:srgbClr val="E3EEF3"/>
                </a:solidFill>
                <a:latin typeface="Calibri"/>
                <a:ea typeface="Calibri"/>
                <a:cs typeface="Calibri"/>
              </a:rPr>
              <a:t>feature artifacts (.pkl)</a:t>
            </a:r>
            <a:endParaRPr lang="en-US" sz="1150"/>
          </a:p>
        </p:txBody>
      </p:sp>
      <p:sp>
        <p:nvSpPr>
          <p:cNvPr id="2048945367" name="Shape 4"/>
          <p:cNvSpPr/>
          <p:nvPr/>
        </p:nvSpPr>
        <p:spPr bwMode="auto">
          <a:xfrm>
            <a:off x="4297680" y="23774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881003" name="Text 5"/>
          <p:cNvSpPr/>
          <p:nvPr/>
        </p:nvSpPr>
        <p:spPr bwMode="auto">
          <a:xfrm>
            <a:off x="443484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FastAPI Backend</a:t>
            </a:r>
            <a:endParaRPr lang="en-US" sz="1500"/>
          </a:p>
        </p:txBody>
      </p:sp>
      <p:sp>
        <p:nvSpPr>
          <p:cNvPr id="494591584" name="Text 6"/>
          <p:cNvSpPr/>
          <p:nvPr/>
        </p:nvSpPr>
        <p:spPr bwMode="auto">
          <a:xfrm>
            <a:off x="4434840" y="3017519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E3EEF3"/>
                </a:solidFill>
                <a:latin typeface="Calibri"/>
                <a:ea typeface="Calibri"/>
                <a:cs typeface="Calibri"/>
              </a:rPr>
              <a:t>/predict endpoint</a:t>
            </a:r>
            <a:endParaRPr lang="en-US" sz="1150"/>
          </a:p>
          <a:p>
            <a:pPr marL="0" indent="0" algn="ctr">
              <a:buNone/>
              <a:defRPr/>
            </a:pPr>
            <a:r>
              <a:rPr lang="en-US" sz="1150">
                <a:solidFill>
                  <a:srgbClr val="E3EEF3"/>
                </a:solidFill>
                <a:latin typeface="Calibri"/>
                <a:ea typeface="Calibri"/>
                <a:cs typeface="Calibri"/>
              </a:rPr>
              <a:t>hosted on Railway</a:t>
            </a:r>
            <a:endParaRPr lang="en-US" sz="1150"/>
          </a:p>
        </p:txBody>
      </p:sp>
      <p:sp>
        <p:nvSpPr>
          <p:cNvPr id="1672901994" name="Shape 7"/>
          <p:cNvSpPr/>
          <p:nvPr/>
        </p:nvSpPr>
        <p:spPr bwMode="auto">
          <a:xfrm>
            <a:off x="7955280" y="23774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8784242" name="Text 8"/>
          <p:cNvSpPr/>
          <p:nvPr/>
        </p:nvSpPr>
        <p:spPr bwMode="auto">
          <a:xfrm>
            <a:off x="809244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Streamlit Dashboard</a:t>
            </a:r>
            <a:endParaRPr lang="en-US" sz="1500"/>
          </a:p>
        </p:txBody>
      </p:sp>
      <p:sp>
        <p:nvSpPr>
          <p:cNvPr id="35403000" name="Text 9"/>
          <p:cNvSpPr/>
          <p:nvPr/>
        </p:nvSpPr>
        <p:spPr bwMode="auto">
          <a:xfrm>
            <a:off x="8092440" y="3017519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E3EEF3"/>
                </a:solidFill>
                <a:latin typeface="Calibri"/>
                <a:ea typeface="Calibri"/>
                <a:cs typeface="Calibri"/>
              </a:rPr>
              <a:t>HR-facing UI</a:t>
            </a:r>
            <a:endParaRPr lang="en-US" sz="1150"/>
          </a:p>
          <a:p>
            <a:pPr marL="0" indent="0" algn="ctr">
              <a:buNone/>
              <a:defRPr/>
            </a:pPr>
            <a:r>
              <a:rPr lang="en-US" sz="1150">
                <a:solidFill>
                  <a:srgbClr val="E3EEF3"/>
                </a:solidFill>
                <a:latin typeface="Calibri"/>
                <a:ea typeface="Calibri"/>
                <a:cs typeface="Calibri"/>
              </a:rPr>
              <a:t>Streamlit Community Cloud</a:t>
            </a:r>
            <a:endParaRPr lang="en-US" sz="1150"/>
          </a:p>
        </p:txBody>
      </p:sp>
      <p:sp>
        <p:nvSpPr>
          <p:cNvPr id="652761284" name="Shape 10"/>
          <p:cNvSpPr/>
          <p:nvPr/>
        </p:nvSpPr>
        <p:spPr bwMode="auto">
          <a:xfrm>
            <a:off x="3886200" y="2944368"/>
            <a:ext cx="384048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0047353" name="Shape 11"/>
          <p:cNvSpPr/>
          <p:nvPr/>
        </p:nvSpPr>
        <p:spPr bwMode="auto">
          <a:xfrm>
            <a:off x="7543800" y="2944368"/>
            <a:ext cx="384048" cy="41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4854314" name="Shape 12"/>
          <p:cNvSpPr/>
          <p:nvPr/>
        </p:nvSpPr>
        <p:spPr bwMode="auto">
          <a:xfrm>
            <a:off x="640080" y="429768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EAF3F7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1832253" name="Text 13"/>
          <p:cNvSpPr/>
          <p:nvPr/>
        </p:nvSpPr>
        <p:spPr bwMode="auto">
          <a:xfrm>
            <a:off x="1005840" y="44805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Railway resolved earlier module-path &amp; scikit-learn version-pinning issues from initial setup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An initial Vercel deployment was abandoned due to serverless package size limits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Every prediction is logged (input, prediction, probability, timestamp) for monitoring</a:t>
            </a:r>
            <a:endParaRPr lang="en-US" sz="1300"/>
          </a:p>
        </p:txBody>
      </p:sp>
      <p:sp>
        <p:nvSpPr>
          <p:cNvPr id="120954186" name="Text 14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1690127835" name="Text 15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085649" name="Text 0"/>
          <p:cNvSpPr/>
          <p:nvPr/>
        </p:nvSpPr>
        <p:spPr bwMode="auto"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Live Demo</a:t>
            </a:r>
            <a:endParaRPr lang="en-US" sz="3400"/>
          </a:p>
        </p:txBody>
      </p:sp>
      <p:sp>
        <p:nvSpPr>
          <p:cNvPr id="226387965" name="Text 1"/>
          <p:cNvSpPr/>
          <p:nvPr/>
        </p:nvSpPr>
        <p:spPr bwMode="auto">
          <a:xfrm>
            <a:off x="731520" y="1508759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i="1">
                <a:solidFill>
                  <a:srgbClr val="BBD6E8"/>
                </a:solidFill>
                <a:latin typeface="Calibri"/>
                <a:ea typeface="Calibri"/>
                <a:cs typeface="Calibri"/>
              </a:rPr>
              <a:t>HR Attrition Risk Dashboard — Streamlit</a:t>
            </a:r>
            <a:endParaRPr lang="en-US" sz="1600"/>
          </a:p>
        </p:txBody>
      </p:sp>
      <p:sp>
        <p:nvSpPr>
          <p:cNvPr id="754256563" name="Shape 2"/>
          <p:cNvSpPr/>
          <p:nvPr/>
        </p:nvSpPr>
        <p:spPr bwMode="auto">
          <a:xfrm>
            <a:off x="2889504" y="2402840"/>
            <a:ext cx="6400800" cy="3017519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5686840" name="Text 3"/>
          <p:cNvSpPr/>
          <p:nvPr/>
        </p:nvSpPr>
        <p:spPr bwMode="auto">
          <a:xfrm>
            <a:off x="2889504" y="2651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400">
                <a:solidFill>
                  <a:srgbClr val="000000"/>
                </a:solidFill>
              </a:rPr>
              <a:t>🔗</a:t>
            </a:r>
            <a:endParaRPr lang="en-US" sz="3400"/>
          </a:p>
        </p:txBody>
      </p:sp>
      <p:sp>
        <p:nvSpPr>
          <p:cNvPr id="1280333785" name="Text 4"/>
          <p:cNvSpPr/>
          <p:nvPr/>
        </p:nvSpPr>
        <p:spPr bwMode="auto">
          <a:xfrm>
            <a:off x="3200400" y="34290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1600" b="1" dirty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[</a:t>
            </a:r>
            <a:r>
              <a:rPr lang="en-US" sz="1600" b="1" dirty="0">
                <a:solidFill>
                  <a:srgbClr val="065A82"/>
                </a:solidFill>
                <a:ea typeface="Calibri"/>
                <a:cs typeface="Calibri"/>
              </a:rPr>
              <a:t>https://employee-attrition-prediction-and-analysis-project.streamlit.app/</a:t>
            </a:r>
            <a:r>
              <a:rPr lang="en-US" sz="1600" b="1" dirty="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]</a:t>
            </a:r>
            <a:endParaRPr lang="en-US" sz="1600" dirty="0"/>
          </a:p>
        </p:txBody>
      </p:sp>
      <p:sp>
        <p:nvSpPr>
          <p:cNvPr id="106254675" name="Text 5"/>
          <p:cNvSpPr/>
          <p:nvPr/>
        </p:nvSpPr>
        <p:spPr bwMode="auto">
          <a:xfrm>
            <a:off x="3200400" y="402336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Enter an employee's Age, Monthly Income, OverTime status, Total Working Years, and Job Satisfaction to get an instant attrition risk score.</a:t>
            </a:r>
            <a:endParaRPr lang="en-US" sz="1250"/>
          </a:p>
        </p:txBody>
      </p:sp>
      <p:sp>
        <p:nvSpPr>
          <p:cNvPr id="1426620057" name="Text 6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2048429883" name="Text 7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737359" name="Text 0"/>
          <p:cNvSpPr/>
          <p:nvPr/>
        </p:nvSpPr>
        <p:spPr bwMode="auto"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Business Impact &amp; HR Recommendations</a:t>
            </a:r>
            <a:endParaRPr lang="en-US" sz="3000"/>
          </a:p>
        </p:txBody>
      </p:sp>
      <p:sp>
        <p:nvSpPr>
          <p:cNvPr id="858726719" name="Text 1"/>
          <p:cNvSpPr/>
          <p:nvPr/>
        </p:nvSpPr>
        <p:spPr bwMode="auto">
          <a:xfrm>
            <a:off x="54864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Review overtime policy — the strongest, most consistent driver of attrition</a:t>
            </a:r>
            <a:endParaRPr lang="en-US" sz="1600"/>
          </a:p>
          <a:p>
            <a:pPr marL="342900" indent="-342900">
              <a:spcAft>
                <a:spcPts val="20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Address pay gaps in high-turnover roles — leavers earn significantly less on average</a:t>
            </a:r>
            <a:endParaRPr lang="en-US" sz="1600"/>
          </a:p>
          <a:p>
            <a:pPr marL="342900" indent="-342900">
              <a:spcAft>
                <a:spcPts val="20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Watch tenure milestones — role &amp; manager stability compound over time</a:t>
            </a:r>
            <a:endParaRPr lang="en-US" sz="1600"/>
          </a:p>
          <a:p>
            <a:pPr marL="342900" indent="-342900">
              <a:spcAft>
                <a:spcPts val="20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Use the dashboard proactively — score teams before resignations happen, not after</a:t>
            </a:r>
            <a:endParaRPr lang="en-US" sz="1600"/>
          </a:p>
          <a:p>
            <a:pPr marL="342900" indent="-342900">
              <a:spcAft>
                <a:spcPts val="2000"/>
              </a:spcAft>
              <a:buSzPct val="100000"/>
              <a:buChar char="•"/>
              <a:defRPr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Recall over raw accuracy — threshold tuned to catch more true leavers</a:t>
            </a:r>
            <a:endParaRPr lang="en-US" sz="1600"/>
          </a:p>
        </p:txBody>
      </p:sp>
      <p:sp>
        <p:nvSpPr>
          <p:cNvPr id="197235629" name="Text 2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1530017970" name="Text 3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12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472006" name="Text 0"/>
          <p:cNvSpPr/>
          <p:nvPr/>
        </p:nvSpPr>
        <p:spPr bwMode="auto"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Future Improvements</a:t>
            </a:r>
            <a:endParaRPr lang="en-US" sz="3000"/>
          </a:p>
        </p:txBody>
      </p:sp>
      <p:sp>
        <p:nvSpPr>
          <p:cNvPr id="1288892897" name="Shape 1"/>
          <p:cNvSpPr/>
          <p:nvPr/>
        </p:nvSpPr>
        <p:spPr bwMode="auto">
          <a:xfrm>
            <a:off x="548640" y="1645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5862424" name="Shape 2"/>
          <p:cNvSpPr/>
          <p:nvPr/>
        </p:nvSpPr>
        <p:spPr bwMode="auto">
          <a:xfrm>
            <a:off x="7772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5727669" name="Text 3"/>
          <p:cNvSpPr/>
          <p:nvPr/>
        </p:nvSpPr>
        <p:spPr bwMode="auto"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400"/>
          </a:p>
        </p:txBody>
      </p:sp>
      <p:sp>
        <p:nvSpPr>
          <p:cNvPr id="144474261" name="Text 4"/>
          <p:cNvSpPr/>
          <p:nvPr/>
        </p:nvSpPr>
        <p:spPr bwMode="auto">
          <a:xfrm>
            <a:off x="77724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Richer Features</a:t>
            </a:r>
            <a:endParaRPr lang="en-US" sz="1450"/>
          </a:p>
        </p:txBody>
      </p:sp>
      <p:sp>
        <p:nvSpPr>
          <p:cNvPr id="1133400955" name="Text 5"/>
          <p:cNvSpPr/>
          <p:nvPr/>
        </p:nvSpPr>
        <p:spPr bwMode="auto">
          <a:xfrm>
            <a:off x="777240" y="2880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Add engagement &amp; satisfaction survey scores</a:t>
            </a:r>
            <a:endParaRPr lang="en-US" sz="1150"/>
          </a:p>
        </p:txBody>
      </p:sp>
      <p:sp>
        <p:nvSpPr>
          <p:cNvPr id="1083306379" name="Shape 6"/>
          <p:cNvSpPr/>
          <p:nvPr/>
        </p:nvSpPr>
        <p:spPr bwMode="auto">
          <a:xfrm>
            <a:off x="4343400" y="1645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1741325" name="Shape 7"/>
          <p:cNvSpPr/>
          <p:nvPr/>
        </p:nvSpPr>
        <p:spPr bwMode="auto">
          <a:xfrm>
            <a:off x="457200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755513" name="Text 8"/>
          <p:cNvSpPr/>
          <p:nvPr/>
        </p:nvSpPr>
        <p:spPr bwMode="auto">
          <a:xfrm>
            <a:off x="45720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400"/>
          </a:p>
        </p:txBody>
      </p:sp>
      <p:sp>
        <p:nvSpPr>
          <p:cNvPr id="1619105675" name="Text 9"/>
          <p:cNvSpPr/>
          <p:nvPr/>
        </p:nvSpPr>
        <p:spPr bwMode="auto">
          <a:xfrm>
            <a:off x="457200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New Algorithms</a:t>
            </a:r>
            <a:endParaRPr lang="en-US" sz="1450"/>
          </a:p>
        </p:txBody>
      </p:sp>
      <p:sp>
        <p:nvSpPr>
          <p:cNvPr id="239770223" name="Text 10"/>
          <p:cNvSpPr/>
          <p:nvPr/>
        </p:nvSpPr>
        <p:spPr bwMode="auto">
          <a:xfrm>
            <a:off x="4572000" y="2880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Try neural networks, LightGBM, CatBoost</a:t>
            </a:r>
            <a:endParaRPr lang="en-US" sz="1150"/>
          </a:p>
        </p:txBody>
      </p:sp>
      <p:sp>
        <p:nvSpPr>
          <p:cNvPr id="820234782" name="Shape 11"/>
          <p:cNvSpPr/>
          <p:nvPr/>
        </p:nvSpPr>
        <p:spPr bwMode="auto">
          <a:xfrm>
            <a:off x="8138160" y="1645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0133847" name="Shape 12"/>
          <p:cNvSpPr/>
          <p:nvPr/>
        </p:nvSpPr>
        <p:spPr bwMode="auto">
          <a:xfrm>
            <a:off x="836676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482802" name="Text 13"/>
          <p:cNvSpPr/>
          <p:nvPr/>
        </p:nvSpPr>
        <p:spPr bwMode="auto">
          <a:xfrm>
            <a:off x="83667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400"/>
          </a:p>
        </p:txBody>
      </p:sp>
      <p:sp>
        <p:nvSpPr>
          <p:cNvPr id="209974854" name="Text 14"/>
          <p:cNvSpPr/>
          <p:nvPr/>
        </p:nvSpPr>
        <p:spPr bwMode="auto">
          <a:xfrm>
            <a:off x="836676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Automated Retraining</a:t>
            </a:r>
            <a:endParaRPr lang="en-US" sz="1450"/>
          </a:p>
        </p:txBody>
      </p:sp>
      <p:sp>
        <p:nvSpPr>
          <p:cNvPr id="292599826" name="Text 15"/>
          <p:cNvSpPr/>
          <p:nvPr/>
        </p:nvSpPr>
        <p:spPr bwMode="auto">
          <a:xfrm>
            <a:off x="8366760" y="2880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Use monitoring logs to trigger drift-based refreshes</a:t>
            </a:r>
            <a:endParaRPr lang="en-US" sz="1150"/>
          </a:p>
        </p:txBody>
      </p:sp>
      <p:sp>
        <p:nvSpPr>
          <p:cNvPr id="448857120" name="Shape 16"/>
          <p:cNvSpPr/>
          <p:nvPr/>
        </p:nvSpPr>
        <p:spPr bwMode="auto">
          <a:xfrm>
            <a:off x="54864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8560876" name="Shape 17"/>
          <p:cNvSpPr/>
          <p:nvPr/>
        </p:nvSpPr>
        <p:spPr bwMode="auto">
          <a:xfrm>
            <a:off x="777240" y="4251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4210877" name="Text 18"/>
          <p:cNvSpPr/>
          <p:nvPr/>
        </p:nvSpPr>
        <p:spPr bwMode="auto"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400"/>
          </a:p>
        </p:txBody>
      </p:sp>
      <p:sp>
        <p:nvSpPr>
          <p:cNvPr id="1402426224" name="Text 19"/>
          <p:cNvSpPr/>
          <p:nvPr/>
        </p:nvSpPr>
        <p:spPr bwMode="auto">
          <a:xfrm>
            <a:off x="77724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Scalable Deployment</a:t>
            </a:r>
            <a:endParaRPr lang="en-US" sz="1450"/>
          </a:p>
        </p:txBody>
      </p:sp>
      <p:sp>
        <p:nvSpPr>
          <p:cNvPr id="1951098570" name="Text 20"/>
          <p:cNvSpPr/>
          <p:nvPr/>
        </p:nvSpPr>
        <p:spPr bwMode="auto">
          <a:xfrm>
            <a:off x="777240" y="5257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Containerize with Docker; expand dashboard inputs</a:t>
            </a:r>
            <a:endParaRPr lang="en-US" sz="1150"/>
          </a:p>
        </p:txBody>
      </p:sp>
      <p:sp>
        <p:nvSpPr>
          <p:cNvPr id="643212473" name="Shape 21"/>
          <p:cNvSpPr/>
          <p:nvPr/>
        </p:nvSpPr>
        <p:spPr bwMode="auto">
          <a:xfrm>
            <a:off x="434340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8713281" name="Shape 22"/>
          <p:cNvSpPr/>
          <p:nvPr/>
        </p:nvSpPr>
        <p:spPr bwMode="auto">
          <a:xfrm>
            <a:off x="4572000" y="4251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6884385" name="Text 23"/>
          <p:cNvSpPr/>
          <p:nvPr/>
        </p:nvSpPr>
        <p:spPr bwMode="auto">
          <a:xfrm>
            <a:off x="45720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400"/>
          </a:p>
        </p:txBody>
      </p:sp>
      <p:sp>
        <p:nvSpPr>
          <p:cNvPr id="882990138" name="Text 24"/>
          <p:cNvSpPr/>
          <p:nvPr/>
        </p:nvSpPr>
        <p:spPr bwMode="auto">
          <a:xfrm>
            <a:off x="457200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Explainability</a:t>
            </a:r>
            <a:endParaRPr lang="en-US" sz="1450"/>
          </a:p>
        </p:txBody>
      </p:sp>
      <p:sp>
        <p:nvSpPr>
          <p:cNvPr id="760742108" name="Text 25"/>
          <p:cNvSpPr/>
          <p:nvPr/>
        </p:nvSpPr>
        <p:spPr bwMode="auto">
          <a:xfrm>
            <a:off x="4572000" y="5257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B76"/>
                </a:solidFill>
                <a:latin typeface="Calibri"/>
                <a:ea typeface="Calibri"/>
                <a:cs typeface="Calibri"/>
              </a:rPr>
              <a:t>Add SHAP values so HR sees *why* an employee is flagged</a:t>
            </a:r>
            <a:endParaRPr lang="en-US" sz="1150"/>
          </a:p>
        </p:txBody>
      </p:sp>
      <p:sp>
        <p:nvSpPr>
          <p:cNvPr id="934044516" name="Text 26"/>
          <p:cNvSpPr/>
          <p:nvPr/>
        </p:nvSpPr>
        <p:spPr bwMode="auto"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900"/>
          </a:p>
        </p:txBody>
      </p:sp>
      <p:sp>
        <p:nvSpPr>
          <p:cNvPr id="446129090" name="Text 27"/>
          <p:cNvSpPr/>
          <p:nvPr/>
        </p:nvSpPr>
        <p:spPr bwMode="auto"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7AF"/>
                </a:solidFill>
                <a:latin typeface="Calibri"/>
                <a:ea typeface="Calibri"/>
                <a:cs typeface="Calibri"/>
              </a:rPr>
              <a:t>13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4543338" name="Image 0" descr="left_logo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457200"/>
            <a:ext cx="1097280" cy="896112"/>
          </a:xfrm>
          <a:prstGeom prst="rect">
            <a:avLst/>
          </a:prstGeom>
        </p:spPr>
      </p:pic>
      <p:pic>
        <p:nvPicPr>
          <p:cNvPr id="1433255710" name="Image 1" descr="right_logo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332720" y="502920"/>
            <a:ext cx="1280160" cy="704088"/>
          </a:xfrm>
          <a:prstGeom prst="rect">
            <a:avLst/>
          </a:prstGeom>
        </p:spPr>
      </p:pic>
      <p:sp>
        <p:nvSpPr>
          <p:cNvPr id="1038148488" name="Text 0"/>
          <p:cNvSpPr/>
          <p:nvPr/>
        </p:nvSpPr>
        <p:spPr bwMode="auto"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  <a:endParaRPr lang="en-US" sz="4400"/>
          </a:p>
        </p:txBody>
      </p:sp>
      <p:sp>
        <p:nvSpPr>
          <p:cNvPr id="956969991" name="Text 1"/>
          <p:cNvSpPr/>
          <p:nvPr/>
        </p:nvSpPr>
        <p:spPr bwMode="auto"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 i="1">
                <a:solidFill>
                  <a:srgbClr val="BBD6E8"/>
                </a:solidFill>
                <a:latin typeface="Calibri"/>
                <a:ea typeface="Calibri"/>
                <a:cs typeface="Calibri"/>
              </a:rPr>
              <a:t>Questions &amp; Discussion</a:t>
            </a:r>
            <a:endParaRPr lang="en-US" sz="1800"/>
          </a:p>
        </p:txBody>
      </p:sp>
      <p:sp>
        <p:nvSpPr>
          <p:cNvPr id="900348714" name="Shape 2"/>
          <p:cNvSpPr/>
          <p:nvPr/>
        </p:nvSpPr>
        <p:spPr bwMode="auto">
          <a:xfrm>
            <a:off x="4718304" y="4206240"/>
            <a:ext cx="27432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692744" name="Text 3"/>
          <p:cNvSpPr/>
          <p:nvPr/>
        </p:nvSpPr>
        <p:spPr bwMode="auto">
          <a:xfrm>
            <a:off x="731520" y="6035039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9FB8C9"/>
                </a:solidFill>
                <a:latin typeface="Calibri"/>
                <a:ea typeface="Calibri"/>
                <a:cs typeface="Calibri"/>
              </a:rPr>
              <a:t>Employee Attrition Prediction &amp; Analysis — DEPI IBM Data Science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1160</Words>
  <Application>Microsoft Office PowerPoint</Application>
  <PresentationFormat>Widescreen</PresentationFormat>
  <Paragraphs>221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Nourhan Nour</cp:lastModifiedBy>
  <cp:revision>4</cp:revision>
  <dcterms:created xsi:type="dcterms:W3CDTF">2026-07-09T19:20:52Z</dcterms:created>
  <dcterms:modified xsi:type="dcterms:W3CDTF">2026-07-11T16:27:15Z</dcterms:modified>
</cp:coreProperties>
</file>